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7" r:id="rId2"/>
    <p:sldId id="256" r:id="rId3"/>
    <p:sldId id="260" r:id="rId4"/>
    <p:sldId id="259" r:id="rId5"/>
    <p:sldId id="26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3A36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130"/>
    <p:restoredTop sz="95201"/>
  </p:normalViewPr>
  <p:slideViewPr>
    <p:cSldViewPr snapToGrid="0">
      <p:cViewPr>
        <p:scale>
          <a:sx n="108" d="100"/>
          <a:sy n="108" d="100"/>
        </p:scale>
        <p:origin x="584" y="6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6C513D-B0DF-294D-A953-D52EE2BA4E64}" type="datetimeFigureOut">
              <a:rPr lang="en-US" smtClean="0"/>
              <a:t>8/18/26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F51253-FE02-A449-9F9F-B4A665B47221}" type="slidenum">
              <a:rPr lang="en-US" smtClean="0"/>
              <a:t>‹#›</a:t>
            </a:fld>
            <a:endParaRPr lang="en-US"/>
          </a:p>
        </p:txBody>
      </p:sp>
    </p:spTree>
    <p:extLst>
      <p:ext uri="{BB962C8B-B14F-4D97-AF65-F5344CB8AC3E}">
        <p14:creationId xmlns:p14="http://schemas.microsoft.com/office/powerpoint/2010/main" val="2439523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Every year, thousands of engineering students learn power systems through equations and software—but never truly see how the grid behaves. Existing teaching tools are either too abstract, too expensive, or inaccessible.</a:t>
            </a:r>
          </a:p>
        </p:txBody>
      </p:sp>
      <p:sp>
        <p:nvSpPr>
          <p:cNvPr id="4" name="Slide Number Placeholder 3"/>
          <p:cNvSpPr>
            <a:spLocks noGrp="1"/>
          </p:cNvSpPr>
          <p:nvPr>
            <p:ph type="sldNum" sz="quarter" idx="5"/>
          </p:nvPr>
        </p:nvSpPr>
        <p:spPr/>
        <p:txBody>
          <a:bodyPr/>
          <a:lstStyle/>
          <a:p>
            <a:fld id="{A6F51253-FE02-A449-9F9F-B4A665B47221}" type="slidenum">
              <a:rPr lang="en-US" smtClean="0"/>
              <a:t>1</a:t>
            </a:fld>
            <a:endParaRPr lang="en-US"/>
          </a:p>
        </p:txBody>
      </p:sp>
    </p:spTree>
    <p:extLst>
      <p:ext uri="{BB962C8B-B14F-4D97-AF65-F5344CB8AC3E}">
        <p14:creationId xmlns:p14="http://schemas.microsoft.com/office/powerpoint/2010/main" val="13251923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introduce to you, </a:t>
            </a:r>
            <a:r>
              <a:rPr lang="en-US" dirty="0" err="1"/>
              <a:t>Mpower</a:t>
            </a:r>
            <a:r>
              <a:rPr lang="en-US" dirty="0"/>
              <a:t> Boards.</a:t>
            </a:r>
          </a:p>
        </p:txBody>
      </p:sp>
      <p:sp>
        <p:nvSpPr>
          <p:cNvPr id="4" name="Slide Number Placeholder 3"/>
          <p:cNvSpPr>
            <a:spLocks noGrp="1"/>
          </p:cNvSpPr>
          <p:nvPr>
            <p:ph type="sldNum" sz="quarter" idx="5"/>
          </p:nvPr>
        </p:nvSpPr>
        <p:spPr/>
        <p:txBody>
          <a:bodyPr/>
          <a:lstStyle/>
          <a:p>
            <a:fld id="{A6F51253-FE02-A449-9F9F-B4A665B47221}" type="slidenum">
              <a:rPr lang="en-US" smtClean="0"/>
              <a:t>2</a:t>
            </a:fld>
            <a:endParaRPr lang="en-US"/>
          </a:p>
        </p:txBody>
      </p:sp>
    </p:spTree>
    <p:extLst>
      <p:ext uri="{BB962C8B-B14F-4D97-AF65-F5344CB8AC3E}">
        <p14:creationId xmlns:p14="http://schemas.microsoft.com/office/powerpoint/2010/main" val="40265206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MPowerBoards transforms real power-grid simulations into interactive physical boards using LEDs, embedded electronics, and real-time visualization. Students don't just calculate power flow—they watch it happen.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We've developed three flagship products for classrooms, education, and research, allowing users to explore everything from basic concepts to real grid operations.</a:t>
            </a:r>
          </a:p>
          <a:p>
            <a:endParaRPr lang="en-US" dirty="0"/>
          </a:p>
        </p:txBody>
      </p:sp>
      <p:sp>
        <p:nvSpPr>
          <p:cNvPr id="4" name="Slide Number Placeholder 3"/>
          <p:cNvSpPr>
            <a:spLocks noGrp="1"/>
          </p:cNvSpPr>
          <p:nvPr>
            <p:ph type="sldNum" sz="quarter" idx="5"/>
          </p:nvPr>
        </p:nvSpPr>
        <p:spPr/>
        <p:txBody>
          <a:bodyPr/>
          <a:lstStyle/>
          <a:p>
            <a:fld id="{A6F51253-FE02-A449-9F9F-B4A665B47221}" type="slidenum">
              <a:rPr lang="en-US" smtClean="0"/>
              <a:t>3</a:t>
            </a:fld>
            <a:endParaRPr lang="en-US"/>
          </a:p>
        </p:txBody>
      </p:sp>
    </p:spTree>
    <p:extLst>
      <p:ext uri="{BB962C8B-B14F-4D97-AF65-F5344CB8AC3E}">
        <p14:creationId xmlns:p14="http://schemas.microsoft.com/office/powerpoint/2010/main" val="3866165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We've already built working prototypes and are collaborating with Georgia Tech faculty and the AI Institute to bring MPowerBoards into classrooms and outreach.</a:t>
            </a:r>
          </a:p>
          <a:p>
            <a:endParaRPr lang="en-US" dirty="0"/>
          </a:p>
        </p:txBody>
      </p:sp>
      <p:sp>
        <p:nvSpPr>
          <p:cNvPr id="4" name="Slide Number Placeholder 3"/>
          <p:cNvSpPr>
            <a:spLocks noGrp="1"/>
          </p:cNvSpPr>
          <p:nvPr>
            <p:ph type="sldNum" sz="quarter" idx="5"/>
          </p:nvPr>
        </p:nvSpPr>
        <p:spPr/>
        <p:txBody>
          <a:bodyPr/>
          <a:lstStyle/>
          <a:p>
            <a:fld id="{A6F51253-FE02-A449-9F9F-B4A665B47221}" type="slidenum">
              <a:rPr lang="en-US" smtClean="0"/>
              <a:t>4</a:t>
            </a:fld>
            <a:endParaRPr lang="en-US"/>
          </a:p>
        </p:txBody>
      </p:sp>
    </p:spTree>
    <p:extLst>
      <p:ext uri="{BB962C8B-B14F-4D97-AF65-F5344CB8AC3E}">
        <p14:creationId xmlns:p14="http://schemas.microsoft.com/office/powerpoint/2010/main" val="22805235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Our mission is to make power systems education visual, interactive, and accessible. We'd love to connect with educators, researchers, and investors.</a:t>
            </a:r>
          </a:p>
          <a:p>
            <a:endParaRPr lang="en-US" dirty="0"/>
          </a:p>
        </p:txBody>
      </p:sp>
      <p:sp>
        <p:nvSpPr>
          <p:cNvPr id="4" name="Slide Number Placeholder 3"/>
          <p:cNvSpPr>
            <a:spLocks noGrp="1"/>
          </p:cNvSpPr>
          <p:nvPr>
            <p:ph type="sldNum" sz="quarter" idx="5"/>
          </p:nvPr>
        </p:nvSpPr>
        <p:spPr/>
        <p:txBody>
          <a:bodyPr/>
          <a:lstStyle/>
          <a:p>
            <a:fld id="{A6F51253-FE02-A449-9F9F-B4A665B47221}" type="slidenum">
              <a:rPr lang="en-US" smtClean="0"/>
              <a:t>5</a:t>
            </a:fld>
            <a:endParaRPr lang="en-US"/>
          </a:p>
        </p:txBody>
      </p:sp>
    </p:spTree>
    <p:extLst>
      <p:ext uri="{BB962C8B-B14F-4D97-AF65-F5344CB8AC3E}">
        <p14:creationId xmlns:p14="http://schemas.microsoft.com/office/powerpoint/2010/main" val="21057760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79E73-8606-2E28-7191-1CF5A4B8642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116959A-3D28-72F1-D4BC-A3AD3E94BC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7EDCE49-E0A3-F231-179C-3A175198388D}"/>
              </a:ext>
            </a:extLst>
          </p:cNvPr>
          <p:cNvSpPr>
            <a:spLocks noGrp="1"/>
          </p:cNvSpPr>
          <p:nvPr>
            <p:ph type="dt" sz="half" idx="10"/>
          </p:nvPr>
        </p:nvSpPr>
        <p:spPr/>
        <p:txBody>
          <a:bodyPr/>
          <a:lstStyle/>
          <a:p>
            <a:fld id="{9B96B6E0-65F7-904E-9453-71D599858F29}" type="datetimeFigureOut">
              <a:rPr lang="en-US" smtClean="0"/>
              <a:t>8/18/26</a:t>
            </a:fld>
            <a:endParaRPr lang="en-US"/>
          </a:p>
        </p:txBody>
      </p:sp>
      <p:sp>
        <p:nvSpPr>
          <p:cNvPr id="5" name="Footer Placeholder 4">
            <a:extLst>
              <a:ext uri="{FF2B5EF4-FFF2-40B4-BE49-F238E27FC236}">
                <a16:creationId xmlns:a16="http://schemas.microsoft.com/office/drawing/2014/main" id="{53DCF76F-2DB5-A48B-5013-DC56635413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30B9B6-6AC2-2E29-0ED4-4FDE9324241D}"/>
              </a:ext>
            </a:extLst>
          </p:cNvPr>
          <p:cNvSpPr>
            <a:spLocks noGrp="1"/>
          </p:cNvSpPr>
          <p:nvPr>
            <p:ph type="sldNum" sz="quarter" idx="12"/>
          </p:nvPr>
        </p:nvSpPr>
        <p:spPr/>
        <p:txBody>
          <a:bodyPr/>
          <a:lstStyle/>
          <a:p>
            <a:fld id="{F84A2268-8152-F74F-8D5A-239382DC1EE1}" type="slidenum">
              <a:rPr lang="en-US" smtClean="0"/>
              <a:t>‹#›</a:t>
            </a:fld>
            <a:endParaRPr lang="en-US"/>
          </a:p>
        </p:txBody>
      </p:sp>
    </p:spTree>
    <p:extLst>
      <p:ext uri="{BB962C8B-B14F-4D97-AF65-F5344CB8AC3E}">
        <p14:creationId xmlns:p14="http://schemas.microsoft.com/office/powerpoint/2010/main" val="3929229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CA327-22BE-6672-A2D2-AE53BC05102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E89D10-4EA5-2B8E-BE20-53DDA9DA6AA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577FB2-75CD-D850-DE10-DB3D7FB780CF}"/>
              </a:ext>
            </a:extLst>
          </p:cNvPr>
          <p:cNvSpPr>
            <a:spLocks noGrp="1"/>
          </p:cNvSpPr>
          <p:nvPr>
            <p:ph type="dt" sz="half" idx="10"/>
          </p:nvPr>
        </p:nvSpPr>
        <p:spPr/>
        <p:txBody>
          <a:bodyPr/>
          <a:lstStyle/>
          <a:p>
            <a:fld id="{9B96B6E0-65F7-904E-9453-71D599858F29}" type="datetimeFigureOut">
              <a:rPr lang="en-US" smtClean="0"/>
              <a:t>8/18/26</a:t>
            </a:fld>
            <a:endParaRPr lang="en-US"/>
          </a:p>
        </p:txBody>
      </p:sp>
      <p:sp>
        <p:nvSpPr>
          <p:cNvPr id="5" name="Footer Placeholder 4">
            <a:extLst>
              <a:ext uri="{FF2B5EF4-FFF2-40B4-BE49-F238E27FC236}">
                <a16:creationId xmlns:a16="http://schemas.microsoft.com/office/drawing/2014/main" id="{FEB74674-8B1C-2912-6B49-9F2BA6D203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0807BD-6E44-8D6E-4AD5-F14CD1DEB316}"/>
              </a:ext>
            </a:extLst>
          </p:cNvPr>
          <p:cNvSpPr>
            <a:spLocks noGrp="1"/>
          </p:cNvSpPr>
          <p:nvPr>
            <p:ph type="sldNum" sz="quarter" idx="12"/>
          </p:nvPr>
        </p:nvSpPr>
        <p:spPr/>
        <p:txBody>
          <a:bodyPr/>
          <a:lstStyle/>
          <a:p>
            <a:fld id="{F84A2268-8152-F74F-8D5A-239382DC1EE1}" type="slidenum">
              <a:rPr lang="en-US" smtClean="0"/>
              <a:t>‹#›</a:t>
            </a:fld>
            <a:endParaRPr lang="en-US"/>
          </a:p>
        </p:txBody>
      </p:sp>
    </p:spTree>
    <p:extLst>
      <p:ext uri="{BB962C8B-B14F-4D97-AF65-F5344CB8AC3E}">
        <p14:creationId xmlns:p14="http://schemas.microsoft.com/office/powerpoint/2010/main" val="28091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D2E66-87DF-CC7E-6619-A398D3A3F2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6DDAFA7-1222-45EB-3689-38B0C13F1C6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89CEB0-EE8E-3413-D89B-F8E9DD45A61E}"/>
              </a:ext>
            </a:extLst>
          </p:cNvPr>
          <p:cNvSpPr>
            <a:spLocks noGrp="1"/>
          </p:cNvSpPr>
          <p:nvPr>
            <p:ph type="dt" sz="half" idx="10"/>
          </p:nvPr>
        </p:nvSpPr>
        <p:spPr/>
        <p:txBody>
          <a:bodyPr/>
          <a:lstStyle/>
          <a:p>
            <a:fld id="{9B96B6E0-65F7-904E-9453-71D599858F29}" type="datetimeFigureOut">
              <a:rPr lang="en-US" smtClean="0"/>
              <a:t>8/18/26</a:t>
            </a:fld>
            <a:endParaRPr lang="en-US"/>
          </a:p>
        </p:txBody>
      </p:sp>
      <p:sp>
        <p:nvSpPr>
          <p:cNvPr id="5" name="Footer Placeholder 4">
            <a:extLst>
              <a:ext uri="{FF2B5EF4-FFF2-40B4-BE49-F238E27FC236}">
                <a16:creationId xmlns:a16="http://schemas.microsoft.com/office/drawing/2014/main" id="{8242E6FD-EBC1-66A0-1DFB-8C8CC12F79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3EB80D-751E-90B5-D4FB-5538C56D0112}"/>
              </a:ext>
            </a:extLst>
          </p:cNvPr>
          <p:cNvSpPr>
            <a:spLocks noGrp="1"/>
          </p:cNvSpPr>
          <p:nvPr>
            <p:ph type="sldNum" sz="quarter" idx="12"/>
          </p:nvPr>
        </p:nvSpPr>
        <p:spPr/>
        <p:txBody>
          <a:bodyPr/>
          <a:lstStyle/>
          <a:p>
            <a:fld id="{F84A2268-8152-F74F-8D5A-239382DC1EE1}" type="slidenum">
              <a:rPr lang="en-US" smtClean="0"/>
              <a:t>‹#›</a:t>
            </a:fld>
            <a:endParaRPr lang="en-US"/>
          </a:p>
        </p:txBody>
      </p:sp>
    </p:spTree>
    <p:extLst>
      <p:ext uri="{BB962C8B-B14F-4D97-AF65-F5344CB8AC3E}">
        <p14:creationId xmlns:p14="http://schemas.microsoft.com/office/powerpoint/2010/main" val="34643501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DFF26-E2E5-D17E-7925-1CAC7CA8B0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F55A54C-A1D3-BC66-50E4-326ACC29E9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E885969-4A57-0FB7-8A21-65B4660AD0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AAEFD03-F792-DE41-9906-0CA667DEB886}"/>
              </a:ext>
            </a:extLst>
          </p:cNvPr>
          <p:cNvSpPr>
            <a:spLocks noGrp="1"/>
          </p:cNvSpPr>
          <p:nvPr>
            <p:ph type="dt" sz="half" idx="10"/>
          </p:nvPr>
        </p:nvSpPr>
        <p:spPr/>
        <p:txBody>
          <a:bodyPr/>
          <a:lstStyle/>
          <a:p>
            <a:fld id="{9B96B6E0-65F7-904E-9453-71D599858F29}" type="datetimeFigureOut">
              <a:rPr lang="en-US" smtClean="0"/>
              <a:t>8/18/26</a:t>
            </a:fld>
            <a:endParaRPr lang="en-US"/>
          </a:p>
        </p:txBody>
      </p:sp>
      <p:sp>
        <p:nvSpPr>
          <p:cNvPr id="6" name="Footer Placeholder 5">
            <a:extLst>
              <a:ext uri="{FF2B5EF4-FFF2-40B4-BE49-F238E27FC236}">
                <a16:creationId xmlns:a16="http://schemas.microsoft.com/office/drawing/2014/main" id="{7EC8DB7A-2885-476D-79DE-2382F878E3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509FCB-1092-1E88-BBA5-21407982BC2F}"/>
              </a:ext>
            </a:extLst>
          </p:cNvPr>
          <p:cNvSpPr>
            <a:spLocks noGrp="1"/>
          </p:cNvSpPr>
          <p:nvPr>
            <p:ph type="sldNum" sz="quarter" idx="12"/>
          </p:nvPr>
        </p:nvSpPr>
        <p:spPr/>
        <p:txBody>
          <a:bodyPr/>
          <a:lstStyle/>
          <a:p>
            <a:fld id="{F84A2268-8152-F74F-8D5A-239382DC1EE1}" type="slidenum">
              <a:rPr lang="en-US" smtClean="0"/>
              <a:t>‹#›</a:t>
            </a:fld>
            <a:endParaRPr lang="en-US"/>
          </a:p>
        </p:txBody>
      </p:sp>
    </p:spTree>
    <p:extLst>
      <p:ext uri="{BB962C8B-B14F-4D97-AF65-F5344CB8AC3E}">
        <p14:creationId xmlns:p14="http://schemas.microsoft.com/office/powerpoint/2010/main" val="2828719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3C7F9-E2A1-1134-71A3-8958556BC2B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61427F2-3252-01A1-6F98-E03188AC51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7DC5D5A-B148-ACA9-E1A4-C08BDCB5BAE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C45931B-F290-3741-8CB6-26BC1415AEC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DD5A280-CCC5-6C0D-5ACE-82C319F7C6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AA6507F-98DB-2004-169C-471310883B4A}"/>
              </a:ext>
            </a:extLst>
          </p:cNvPr>
          <p:cNvSpPr>
            <a:spLocks noGrp="1"/>
          </p:cNvSpPr>
          <p:nvPr>
            <p:ph type="dt" sz="half" idx="10"/>
          </p:nvPr>
        </p:nvSpPr>
        <p:spPr/>
        <p:txBody>
          <a:bodyPr/>
          <a:lstStyle/>
          <a:p>
            <a:fld id="{9B96B6E0-65F7-904E-9453-71D599858F29}" type="datetimeFigureOut">
              <a:rPr lang="en-US" smtClean="0"/>
              <a:t>8/18/26</a:t>
            </a:fld>
            <a:endParaRPr lang="en-US"/>
          </a:p>
        </p:txBody>
      </p:sp>
      <p:sp>
        <p:nvSpPr>
          <p:cNvPr id="8" name="Footer Placeholder 7">
            <a:extLst>
              <a:ext uri="{FF2B5EF4-FFF2-40B4-BE49-F238E27FC236}">
                <a16:creationId xmlns:a16="http://schemas.microsoft.com/office/drawing/2014/main" id="{5C8DD724-4094-9938-8266-5289AE9D357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0869FFC-465B-E6C2-E332-793CEADACB80}"/>
              </a:ext>
            </a:extLst>
          </p:cNvPr>
          <p:cNvSpPr>
            <a:spLocks noGrp="1"/>
          </p:cNvSpPr>
          <p:nvPr>
            <p:ph type="sldNum" sz="quarter" idx="12"/>
          </p:nvPr>
        </p:nvSpPr>
        <p:spPr/>
        <p:txBody>
          <a:bodyPr/>
          <a:lstStyle/>
          <a:p>
            <a:fld id="{F84A2268-8152-F74F-8D5A-239382DC1EE1}" type="slidenum">
              <a:rPr lang="en-US" smtClean="0"/>
              <a:t>‹#›</a:t>
            </a:fld>
            <a:endParaRPr lang="en-US"/>
          </a:p>
        </p:txBody>
      </p:sp>
    </p:spTree>
    <p:extLst>
      <p:ext uri="{BB962C8B-B14F-4D97-AF65-F5344CB8AC3E}">
        <p14:creationId xmlns:p14="http://schemas.microsoft.com/office/powerpoint/2010/main" val="9389246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BE79E-14DC-C9BC-956D-BAB1ED45E7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5C04723-5637-C908-DDBB-78ED7248D25D}"/>
              </a:ext>
            </a:extLst>
          </p:cNvPr>
          <p:cNvSpPr>
            <a:spLocks noGrp="1"/>
          </p:cNvSpPr>
          <p:nvPr>
            <p:ph type="dt" sz="half" idx="10"/>
          </p:nvPr>
        </p:nvSpPr>
        <p:spPr/>
        <p:txBody>
          <a:bodyPr/>
          <a:lstStyle/>
          <a:p>
            <a:fld id="{9B96B6E0-65F7-904E-9453-71D599858F29}" type="datetimeFigureOut">
              <a:rPr lang="en-US" smtClean="0"/>
              <a:t>8/18/26</a:t>
            </a:fld>
            <a:endParaRPr lang="en-US"/>
          </a:p>
        </p:txBody>
      </p:sp>
      <p:sp>
        <p:nvSpPr>
          <p:cNvPr id="4" name="Footer Placeholder 3">
            <a:extLst>
              <a:ext uri="{FF2B5EF4-FFF2-40B4-BE49-F238E27FC236}">
                <a16:creationId xmlns:a16="http://schemas.microsoft.com/office/drawing/2014/main" id="{321B1704-CDD7-698C-B109-EC979EBE487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0C48CF-8376-13FD-0723-EE868DC96446}"/>
              </a:ext>
            </a:extLst>
          </p:cNvPr>
          <p:cNvSpPr>
            <a:spLocks noGrp="1"/>
          </p:cNvSpPr>
          <p:nvPr>
            <p:ph type="sldNum" sz="quarter" idx="12"/>
          </p:nvPr>
        </p:nvSpPr>
        <p:spPr/>
        <p:txBody>
          <a:bodyPr/>
          <a:lstStyle/>
          <a:p>
            <a:fld id="{F84A2268-8152-F74F-8D5A-239382DC1EE1}" type="slidenum">
              <a:rPr lang="en-US" smtClean="0"/>
              <a:t>‹#›</a:t>
            </a:fld>
            <a:endParaRPr lang="en-US"/>
          </a:p>
        </p:txBody>
      </p:sp>
    </p:spTree>
    <p:extLst>
      <p:ext uri="{BB962C8B-B14F-4D97-AF65-F5344CB8AC3E}">
        <p14:creationId xmlns:p14="http://schemas.microsoft.com/office/powerpoint/2010/main" val="2376169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D39902-36EA-34CC-EB7D-ADF6BC8A41A6}"/>
              </a:ext>
            </a:extLst>
          </p:cNvPr>
          <p:cNvSpPr>
            <a:spLocks noGrp="1"/>
          </p:cNvSpPr>
          <p:nvPr>
            <p:ph type="dt" sz="half" idx="10"/>
          </p:nvPr>
        </p:nvSpPr>
        <p:spPr/>
        <p:txBody>
          <a:bodyPr/>
          <a:lstStyle/>
          <a:p>
            <a:fld id="{9B96B6E0-65F7-904E-9453-71D599858F29}" type="datetimeFigureOut">
              <a:rPr lang="en-US" smtClean="0"/>
              <a:t>8/18/26</a:t>
            </a:fld>
            <a:endParaRPr lang="en-US"/>
          </a:p>
        </p:txBody>
      </p:sp>
      <p:sp>
        <p:nvSpPr>
          <p:cNvPr id="3" name="Footer Placeholder 2">
            <a:extLst>
              <a:ext uri="{FF2B5EF4-FFF2-40B4-BE49-F238E27FC236}">
                <a16:creationId xmlns:a16="http://schemas.microsoft.com/office/drawing/2014/main" id="{98F896A3-27A8-9084-B04C-BA720BA761C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3C597D3-E7F6-EA94-8AE0-6CB597773E8F}"/>
              </a:ext>
            </a:extLst>
          </p:cNvPr>
          <p:cNvSpPr>
            <a:spLocks noGrp="1"/>
          </p:cNvSpPr>
          <p:nvPr>
            <p:ph type="sldNum" sz="quarter" idx="12"/>
          </p:nvPr>
        </p:nvSpPr>
        <p:spPr/>
        <p:txBody>
          <a:bodyPr/>
          <a:lstStyle/>
          <a:p>
            <a:fld id="{F84A2268-8152-F74F-8D5A-239382DC1EE1}" type="slidenum">
              <a:rPr lang="en-US" smtClean="0"/>
              <a:t>‹#›</a:t>
            </a:fld>
            <a:endParaRPr lang="en-US"/>
          </a:p>
        </p:txBody>
      </p:sp>
    </p:spTree>
    <p:extLst>
      <p:ext uri="{BB962C8B-B14F-4D97-AF65-F5344CB8AC3E}">
        <p14:creationId xmlns:p14="http://schemas.microsoft.com/office/powerpoint/2010/main" val="31769812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BEB49-F9FD-F187-687B-FB41C3DC76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93E363-9800-4B8C-203A-352067A147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6F28CA-4FA3-95F7-7BFB-455BA43B28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0F60BC-A2C2-6DA0-E2C4-BE42CCDB5C95}"/>
              </a:ext>
            </a:extLst>
          </p:cNvPr>
          <p:cNvSpPr>
            <a:spLocks noGrp="1"/>
          </p:cNvSpPr>
          <p:nvPr>
            <p:ph type="dt" sz="half" idx="10"/>
          </p:nvPr>
        </p:nvSpPr>
        <p:spPr/>
        <p:txBody>
          <a:bodyPr/>
          <a:lstStyle/>
          <a:p>
            <a:fld id="{9B96B6E0-65F7-904E-9453-71D599858F29}" type="datetimeFigureOut">
              <a:rPr lang="en-US" smtClean="0"/>
              <a:t>8/18/26</a:t>
            </a:fld>
            <a:endParaRPr lang="en-US"/>
          </a:p>
        </p:txBody>
      </p:sp>
      <p:sp>
        <p:nvSpPr>
          <p:cNvPr id="6" name="Footer Placeholder 5">
            <a:extLst>
              <a:ext uri="{FF2B5EF4-FFF2-40B4-BE49-F238E27FC236}">
                <a16:creationId xmlns:a16="http://schemas.microsoft.com/office/drawing/2014/main" id="{5AD6075E-D010-88EE-0250-EF1BA6B3C8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E069BC-94A6-0259-3395-B761C42C1988}"/>
              </a:ext>
            </a:extLst>
          </p:cNvPr>
          <p:cNvSpPr>
            <a:spLocks noGrp="1"/>
          </p:cNvSpPr>
          <p:nvPr>
            <p:ph type="sldNum" sz="quarter" idx="12"/>
          </p:nvPr>
        </p:nvSpPr>
        <p:spPr/>
        <p:txBody>
          <a:bodyPr/>
          <a:lstStyle/>
          <a:p>
            <a:fld id="{F84A2268-8152-F74F-8D5A-239382DC1EE1}" type="slidenum">
              <a:rPr lang="en-US" smtClean="0"/>
              <a:t>‹#›</a:t>
            </a:fld>
            <a:endParaRPr lang="en-US"/>
          </a:p>
        </p:txBody>
      </p:sp>
    </p:spTree>
    <p:extLst>
      <p:ext uri="{BB962C8B-B14F-4D97-AF65-F5344CB8AC3E}">
        <p14:creationId xmlns:p14="http://schemas.microsoft.com/office/powerpoint/2010/main" val="3233133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94219-81BD-24FD-687F-426B050B01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8184988-CDBC-9FF9-2737-64C226E1C9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FEDEEB-78DE-A8BF-7A5D-168B0FF628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6BAB91-E8CA-32AB-3F3E-CBF952638432}"/>
              </a:ext>
            </a:extLst>
          </p:cNvPr>
          <p:cNvSpPr>
            <a:spLocks noGrp="1"/>
          </p:cNvSpPr>
          <p:nvPr>
            <p:ph type="dt" sz="half" idx="10"/>
          </p:nvPr>
        </p:nvSpPr>
        <p:spPr/>
        <p:txBody>
          <a:bodyPr/>
          <a:lstStyle/>
          <a:p>
            <a:fld id="{9B96B6E0-65F7-904E-9453-71D599858F29}" type="datetimeFigureOut">
              <a:rPr lang="en-US" smtClean="0"/>
              <a:t>8/18/26</a:t>
            </a:fld>
            <a:endParaRPr lang="en-US"/>
          </a:p>
        </p:txBody>
      </p:sp>
      <p:sp>
        <p:nvSpPr>
          <p:cNvPr id="6" name="Footer Placeholder 5">
            <a:extLst>
              <a:ext uri="{FF2B5EF4-FFF2-40B4-BE49-F238E27FC236}">
                <a16:creationId xmlns:a16="http://schemas.microsoft.com/office/drawing/2014/main" id="{5BEA08A8-E49A-DD66-C712-9B921CCB9B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0C0524-8539-E495-A0F9-259725E75547}"/>
              </a:ext>
            </a:extLst>
          </p:cNvPr>
          <p:cNvSpPr>
            <a:spLocks noGrp="1"/>
          </p:cNvSpPr>
          <p:nvPr>
            <p:ph type="sldNum" sz="quarter" idx="12"/>
          </p:nvPr>
        </p:nvSpPr>
        <p:spPr/>
        <p:txBody>
          <a:bodyPr/>
          <a:lstStyle/>
          <a:p>
            <a:fld id="{F84A2268-8152-F74F-8D5A-239382DC1EE1}" type="slidenum">
              <a:rPr lang="en-US" smtClean="0"/>
              <a:t>‹#›</a:t>
            </a:fld>
            <a:endParaRPr lang="en-US"/>
          </a:p>
        </p:txBody>
      </p:sp>
    </p:spTree>
    <p:extLst>
      <p:ext uri="{BB962C8B-B14F-4D97-AF65-F5344CB8AC3E}">
        <p14:creationId xmlns:p14="http://schemas.microsoft.com/office/powerpoint/2010/main" val="3960929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59410-E39A-4F4E-90F6-223C6E05D31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9A6F537-81DB-2C6E-012D-4FCBCC51872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F02078-4FAD-22BE-7A3B-ADB26ADD8C82}"/>
              </a:ext>
            </a:extLst>
          </p:cNvPr>
          <p:cNvSpPr>
            <a:spLocks noGrp="1"/>
          </p:cNvSpPr>
          <p:nvPr>
            <p:ph type="dt" sz="half" idx="10"/>
          </p:nvPr>
        </p:nvSpPr>
        <p:spPr/>
        <p:txBody>
          <a:bodyPr/>
          <a:lstStyle/>
          <a:p>
            <a:fld id="{9B96B6E0-65F7-904E-9453-71D599858F29}" type="datetimeFigureOut">
              <a:rPr lang="en-US" smtClean="0"/>
              <a:t>8/18/26</a:t>
            </a:fld>
            <a:endParaRPr lang="en-US"/>
          </a:p>
        </p:txBody>
      </p:sp>
      <p:sp>
        <p:nvSpPr>
          <p:cNvPr id="5" name="Footer Placeholder 4">
            <a:extLst>
              <a:ext uri="{FF2B5EF4-FFF2-40B4-BE49-F238E27FC236}">
                <a16:creationId xmlns:a16="http://schemas.microsoft.com/office/drawing/2014/main" id="{EB781EEE-B589-1E11-08E4-A56F733006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818485-A7B1-7681-B16C-FDF3410A603E}"/>
              </a:ext>
            </a:extLst>
          </p:cNvPr>
          <p:cNvSpPr>
            <a:spLocks noGrp="1"/>
          </p:cNvSpPr>
          <p:nvPr>
            <p:ph type="sldNum" sz="quarter" idx="12"/>
          </p:nvPr>
        </p:nvSpPr>
        <p:spPr/>
        <p:txBody>
          <a:bodyPr/>
          <a:lstStyle/>
          <a:p>
            <a:fld id="{F84A2268-8152-F74F-8D5A-239382DC1EE1}" type="slidenum">
              <a:rPr lang="en-US" smtClean="0"/>
              <a:t>‹#›</a:t>
            </a:fld>
            <a:endParaRPr lang="en-US"/>
          </a:p>
        </p:txBody>
      </p:sp>
    </p:spTree>
    <p:extLst>
      <p:ext uri="{BB962C8B-B14F-4D97-AF65-F5344CB8AC3E}">
        <p14:creationId xmlns:p14="http://schemas.microsoft.com/office/powerpoint/2010/main" val="18378953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305EE9-5E93-75C7-8DE9-742E49D6889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BFCA5AD-0836-CDB9-4291-39DBF7CA8A5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7DAC34-890C-12DF-C69F-102B09E624F1}"/>
              </a:ext>
            </a:extLst>
          </p:cNvPr>
          <p:cNvSpPr>
            <a:spLocks noGrp="1"/>
          </p:cNvSpPr>
          <p:nvPr>
            <p:ph type="dt" sz="half" idx="10"/>
          </p:nvPr>
        </p:nvSpPr>
        <p:spPr/>
        <p:txBody>
          <a:bodyPr/>
          <a:lstStyle/>
          <a:p>
            <a:fld id="{9B96B6E0-65F7-904E-9453-71D599858F29}" type="datetimeFigureOut">
              <a:rPr lang="en-US" smtClean="0"/>
              <a:t>8/18/26</a:t>
            </a:fld>
            <a:endParaRPr lang="en-US"/>
          </a:p>
        </p:txBody>
      </p:sp>
      <p:sp>
        <p:nvSpPr>
          <p:cNvPr id="5" name="Footer Placeholder 4">
            <a:extLst>
              <a:ext uri="{FF2B5EF4-FFF2-40B4-BE49-F238E27FC236}">
                <a16:creationId xmlns:a16="http://schemas.microsoft.com/office/drawing/2014/main" id="{3E9F2D27-8A88-FB24-C0E0-3E10218A41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DD5C7F-11DC-9351-156C-30E1ED0D12AA}"/>
              </a:ext>
            </a:extLst>
          </p:cNvPr>
          <p:cNvSpPr>
            <a:spLocks noGrp="1"/>
          </p:cNvSpPr>
          <p:nvPr>
            <p:ph type="sldNum" sz="quarter" idx="12"/>
          </p:nvPr>
        </p:nvSpPr>
        <p:spPr/>
        <p:txBody>
          <a:bodyPr/>
          <a:lstStyle/>
          <a:p>
            <a:fld id="{F84A2268-8152-F74F-8D5A-239382DC1EE1}" type="slidenum">
              <a:rPr lang="en-US" smtClean="0"/>
              <a:t>‹#›</a:t>
            </a:fld>
            <a:endParaRPr lang="en-US"/>
          </a:p>
        </p:txBody>
      </p:sp>
    </p:spTree>
    <p:extLst>
      <p:ext uri="{BB962C8B-B14F-4D97-AF65-F5344CB8AC3E}">
        <p14:creationId xmlns:p14="http://schemas.microsoft.com/office/powerpoint/2010/main" val="28426731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D8B7EE-BB82-6662-5B28-1A74F8FDD5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2DB9E37-D6BB-BAB0-2F7E-5A7E6E4CFB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82E48E-5E1D-2724-E351-08E8F95152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B96B6E0-65F7-904E-9453-71D599858F29}" type="datetimeFigureOut">
              <a:rPr lang="en-US" smtClean="0"/>
              <a:t>8/18/26</a:t>
            </a:fld>
            <a:endParaRPr lang="en-US"/>
          </a:p>
        </p:txBody>
      </p:sp>
      <p:sp>
        <p:nvSpPr>
          <p:cNvPr id="5" name="Footer Placeholder 4">
            <a:extLst>
              <a:ext uri="{FF2B5EF4-FFF2-40B4-BE49-F238E27FC236}">
                <a16:creationId xmlns:a16="http://schemas.microsoft.com/office/drawing/2014/main" id="{6D0C7C1D-C532-BCE4-4ECF-995EFEF901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55B679D-E609-C44A-FBD3-31F4B2AA0D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84A2268-8152-F74F-8D5A-239382DC1EE1}" type="slidenum">
              <a:rPr lang="en-US" smtClean="0"/>
              <a:t>‹#›</a:t>
            </a:fld>
            <a:endParaRPr lang="en-US"/>
          </a:p>
        </p:txBody>
      </p:sp>
    </p:spTree>
    <p:extLst>
      <p:ext uri="{BB962C8B-B14F-4D97-AF65-F5344CB8AC3E}">
        <p14:creationId xmlns:p14="http://schemas.microsoft.com/office/powerpoint/2010/main" val="2585739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8.jpeg"/><Relationship Id="rId7"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925CF-69A2-A2A1-547F-E50EC817821F}"/>
            </a:ext>
          </a:extLst>
        </p:cNvPr>
        <p:cNvGrpSpPr/>
        <p:nvPr/>
      </p:nvGrpSpPr>
      <p:grpSpPr>
        <a:xfrm>
          <a:off x="0" y="0"/>
          <a:ext cx="0" cy="0"/>
          <a:chOff x="0" y="0"/>
          <a:chExt cx="0" cy="0"/>
        </a:xfrm>
      </p:grpSpPr>
      <p:pic>
        <p:nvPicPr>
          <p:cNvPr id="8" name="Picture 7" descr="Our electric grid is our future | Colorado Newsline">
            <a:extLst>
              <a:ext uri="{FF2B5EF4-FFF2-40B4-BE49-F238E27FC236}">
                <a16:creationId xmlns:a16="http://schemas.microsoft.com/office/drawing/2014/main" id="{B1C98D6D-A9A1-3238-548A-4EAD8F47DB18}"/>
              </a:ext>
            </a:extLst>
          </p:cNvPr>
          <p:cNvPicPr>
            <a:picLocks noChangeAspect="1"/>
          </p:cNvPicPr>
          <p:nvPr/>
        </p:nvPicPr>
        <p:blipFill>
          <a:blip r:embed="rId3"/>
          <a:stretch>
            <a:fillRect/>
          </a:stretch>
        </p:blipFill>
        <p:spPr>
          <a:xfrm>
            <a:off x="793692" y="1531365"/>
            <a:ext cx="5085973" cy="3399862"/>
          </a:xfrm>
          <a:prstGeom prst="rect">
            <a:avLst/>
          </a:prstGeom>
        </p:spPr>
      </p:pic>
      <p:sp>
        <p:nvSpPr>
          <p:cNvPr id="9" name="TextBox 8">
            <a:extLst>
              <a:ext uri="{FF2B5EF4-FFF2-40B4-BE49-F238E27FC236}">
                <a16:creationId xmlns:a16="http://schemas.microsoft.com/office/drawing/2014/main" id="{15B073E2-B5C4-6F1E-062A-CC1A83B7FA98}"/>
              </a:ext>
            </a:extLst>
          </p:cNvPr>
          <p:cNvSpPr txBox="1"/>
          <p:nvPr/>
        </p:nvSpPr>
        <p:spPr>
          <a:xfrm>
            <a:off x="6096000" y="2415878"/>
            <a:ext cx="6353095" cy="1673535"/>
          </a:xfrm>
          <a:prstGeom prst="rect">
            <a:avLst/>
          </a:prstGeom>
          <a:noFill/>
        </p:spPr>
        <p:txBody>
          <a:bodyPr wrap="square" lIns="91440" tIns="45720" rIns="91440" bIns="45720" anchor="t">
            <a:spAutoFit/>
          </a:bodyPr>
          <a:lstStyle/>
          <a:p>
            <a:pPr algn="just" fontAlgn="base">
              <a:lnSpc>
                <a:spcPct val="200000"/>
              </a:lnSpc>
            </a:pPr>
            <a:r>
              <a:rPr lang="en-US" b="1" dirty="0">
                <a:solidFill>
                  <a:srgbClr val="000000"/>
                </a:solidFill>
                <a:latin typeface="Roboto" panose="02000000000000000000" pitchFamily="2" charset="0"/>
                <a:ea typeface="Roboto" panose="02000000000000000000" pitchFamily="2" charset="0"/>
                <a:cs typeface="Roboto" panose="02000000000000000000" pitchFamily="2" charset="0"/>
              </a:rPr>
              <a:t>• Power systems are difficult to visualize </a:t>
            </a:r>
          </a:p>
          <a:p>
            <a:pPr algn="just" fontAlgn="base">
              <a:lnSpc>
                <a:spcPct val="200000"/>
              </a:lnSpc>
            </a:pPr>
            <a:r>
              <a:rPr lang="en-US" b="1" dirty="0">
                <a:solidFill>
                  <a:srgbClr val="000000"/>
                </a:solidFill>
                <a:latin typeface="Roboto" panose="02000000000000000000" pitchFamily="2" charset="0"/>
                <a:ea typeface="Roboto" panose="02000000000000000000" pitchFamily="2" charset="0"/>
                <a:cs typeface="Roboto" panose="02000000000000000000" pitchFamily="2" charset="0"/>
              </a:rPr>
              <a:t>• Software and equations alone aren't enough </a:t>
            </a:r>
          </a:p>
          <a:p>
            <a:pPr algn="just" fontAlgn="base">
              <a:lnSpc>
                <a:spcPct val="200000"/>
              </a:lnSpc>
            </a:pPr>
            <a:r>
              <a:rPr lang="en-US" b="1" dirty="0">
                <a:solidFill>
                  <a:srgbClr val="000000"/>
                </a:solidFill>
                <a:latin typeface="Roboto" panose="02000000000000000000" pitchFamily="2" charset="0"/>
                <a:ea typeface="Roboto" panose="02000000000000000000" pitchFamily="2" charset="0"/>
                <a:cs typeface="Roboto" panose="02000000000000000000" pitchFamily="2" charset="0"/>
              </a:rPr>
              <a:t>• Existing hardware is expensive or inaccessible</a:t>
            </a:r>
          </a:p>
        </p:txBody>
      </p:sp>
      <p:pic>
        <p:nvPicPr>
          <p:cNvPr id="12" name="Picture 11">
            <a:extLst>
              <a:ext uri="{FF2B5EF4-FFF2-40B4-BE49-F238E27FC236}">
                <a16:creationId xmlns:a16="http://schemas.microsoft.com/office/drawing/2014/main" id="{F31980C2-0F5B-32A4-013C-ED2DAC2DA968}"/>
              </a:ext>
            </a:extLst>
          </p:cNvPr>
          <p:cNvPicPr>
            <a:picLocks noChangeAspect="1"/>
          </p:cNvPicPr>
          <p:nvPr/>
        </p:nvPicPr>
        <p:blipFill>
          <a:blip r:embed="rId4"/>
          <a:stretch>
            <a:fillRect/>
          </a:stretch>
        </p:blipFill>
        <p:spPr>
          <a:xfrm>
            <a:off x="9400032" y="5578812"/>
            <a:ext cx="2221766" cy="759259"/>
          </a:xfrm>
          <a:prstGeom prst="rect">
            <a:avLst/>
          </a:prstGeom>
        </p:spPr>
      </p:pic>
      <p:sp>
        <p:nvSpPr>
          <p:cNvPr id="16" name="TextBox 15">
            <a:extLst>
              <a:ext uri="{FF2B5EF4-FFF2-40B4-BE49-F238E27FC236}">
                <a16:creationId xmlns:a16="http://schemas.microsoft.com/office/drawing/2014/main" id="{00CBB4FB-7849-DC73-A4B2-0DFFF93404FE}"/>
              </a:ext>
            </a:extLst>
          </p:cNvPr>
          <p:cNvSpPr txBox="1"/>
          <p:nvPr/>
        </p:nvSpPr>
        <p:spPr>
          <a:xfrm>
            <a:off x="6136553" y="1981891"/>
            <a:ext cx="6100548" cy="523220"/>
          </a:xfrm>
          <a:prstGeom prst="rect">
            <a:avLst/>
          </a:prstGeom>
          <a:noFill/>
        </p:spPr>
        <p:txBody>
          <a:bodyPr wrap="square">
            <a:spAutoFit/>
          </a:bodyPr>
          <a:lstStyle/>
          <a:p>
            <a:pPr algn="just" fontAlgn="base">
              <a:lnSpc>
                <a:spcPct val="150000"/>
              </a:lnSpc>
            </a:pPr>
            <a:r>
              <a:rPr lang="en-US" sz="2100" b="1" dirty="0">
                <a:solidFill>
                  <a:srgbClr val="000000"/>
                </a:solidFill>
                <a:latin typeface="Roboto" panose="02000000000000000000" pitchFamily="2" charset="0"/>
                <a:ea typeface="Roboto" panose="02000000000000000000" pitchFamily="2" charset="0"/>
                <a:cs typeface="Roboto" panose="02000000000000000000" pitchFamily="2" charset="0"/>
              </a:rPr>
              <a:t>The Problem:</a:t>
            </a:r>
          </a:p>
        </p:txBody>
      </p:sp>
    </p:spTree>
    <p:extLst>
      <p:ext uri="{BB962C8B-B14F-4D97-AF65-F5344CB8AC3E}">
        <p14:creationId xmlns:p14="http://schemas.microsoft.com/office/powerpoint/2010/main" val="2266969664"/>
      </p:ext>
    </p:extLst>
  </p:cSld>
  <p:clrMapOvr>
    <a:masterClrMapping/>
  </p:clrMapOvr>
  <mc:AlternateContent xmlns:mc="http://schemas.openxmlformats.org/markup-compatibility/2006">
    <mc:Choice xmlns:p14="http://schemas.microsoft.com/office/powerpoint/2010/main" Requires="p14">
      <p:transition spd="slow" p14:dur="2000" advTm="13908"/>
    </mc:Choice>
    <mc:Fallback>
      <p:transition spd="slow" advTm="1390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ECA8934-E1CE-8254-8BBF-2553EFCDEFB2}"/>
              </a:ext>
            </a:extLst>
          </p:cNvPr>
          <p:cNvPicPr>
            <a:picLocks noChangeAspect="1"/>
          </p:cNvPicPr>
          <p:nvPr/>
        </p:nvPicPr>
        <p:blipFill>
          <a:blip r:embed="rId3"/>
          <a:stretch>
            <a:fillRect/>
          </a:stretch>
        </p:blipFill>
        <p:spPr>
          <a:xfrm>
            <a:off x="3482891" y="2371602"/>
            <a:ext cx="5226218" cy="1785991"/>
          </a:xfrm>
          <a:prstGeom prst="rect">
            <a:avLst/>
          </a:prstGeom>
        </p:spPr>
      </p:pic>
    </p:spTree>
    <p:extLst>
      <p:ext uri="{BB962C8B-B14F-4D97-AF65-F5344CB8AC3E}">
        <p14:creationId xmlns:p14="http://schemas.microsoft.com/office/powerpoint/2010/main" val="66565031"/>
      </p:ext>
    </p:extLst>
  </p:cSld>
  <p:clrMapOvr>
    <a:masterClrMapping/>
  </p:clrMapOvr>
  <mc:AlternateContent xmlns:mc="http://schemas.openxmlformats.org/markup-compatibility/2006">
    <mc:Choice xmlns:p14="http://schemas.microsoft.com/office/powerpoint/2010/main" Requires="p14">
      <p:transition spd="slow" p14:dur="2000" advTm="8332"/>
    </mc:Choice>
    <mc:Fallback>
      <p:transition spd="slow" advTm="8332"/>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851C7-F981-AB07-DBF5-4FE43E9D95D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ECAAB74-7A5A-7F4C-3745-B608ABDCDF1E}"/>
              </a:ext>
            </a:extLst>
          </p:cNvPr>
          <p:cNvPicPr>
            <a:picLocks noChangeAspect="1"/>
          </p:cNvPicPr>
          <p:nvPr/>
        </p:nvPicPr>
        <p:blipFill>
          <a:blip r:embed="rId3"/>
          <a:stretch>
            <a:fillRect/>
          </a:stretch>
        </p:blipFill>
        <p:spPr>
          <a:xfrm>
            <a:off x="5128640" y="56956"/>
            <a:ext cx="5189067" cy="3793254"/>
          </a:xfrm>
          <a:prstGeom prst="rect">
            <a:avLst/>
          </a:prstGeom>
        </p:spPr>
      </p:pic>
      <p:pic>
        <p:nvPicPr>
          <p:cNvPr id="4" name="Picture 3">
            <a:extLst>
              <a:ext uri="{FF2B5EF4-FFF2-40B4-BE49-F238E27FC236}">
                <a16:creationId xmlns:a16="http://schemas.microsoft.com/office/drawing/2014/main" id="{13A51E06-F18F-CEBE-EC90-C00F1DE1409D}"/>
              </a:ext>
            </a:extLst>
          </p:cNvPr>
          <p:cNvPicPr>
            <a:picLocks noChangeAspect="1"/>
          </p:cNvPicPr>
          <p:nvPr/>
        </p:nvPicPr>
        <p:blipFill>
          <a:blip r:embed="rId4"/>
          <a:stretch>
            <a:fillRect/>
          </a:stretch>
        </p:blipFill>
        <p:spPr>
          <a:xfrm>
            <a:off x="109728" y="4244061"/>
            <a:ext cx="4695357" cy="2352954"/>
          </a:xfrm>
          <a:prstGeom prst="rect">
            <a:avLst/>
          </a:prstGeom>
        </p:spPr>
      </p:pic>
      <p:pic>
        <p:nvPicPr>
          <p:cNvPr id="5" name="Picture 4">
            <a:extLst>
              <a:ext uri="{FF2B5EF4-FFF2-40B4-BE49-F238E27FC236}">
                <a16:creationId xmlns:a16="http://schemas.microsoft.com/office/drawing/2014/main" id="{AC053262-4362-2D7D-D21F-227FD27A0918}"/>
              </a:ext>
            </a:extLst>
          </p:cNvPr>
          <p:cNvPicPr>
            <a:picLocks noChangeAspect="1"/>
          </p:cNvPicPr>
          <p:nvPr/>
        </p:nvPicPr>
        <p:blipFill>
          <a:blip r:embed="rId5"/>
          <a:stretch>
            <a:fillRect/>
          </a:stretch>
        </p:blipFill>
        <p:spPr>
          <a:xfrm>
            <a:off x="109728" y="2209860"/>
            <a:ext cx="4484230" cy="1911922"/>
          </a:xfrm>
          <a:prstGeom prst="rect">
            <a:avLst/>
          </a:prstGeom>
        </p:spPr>
      </p:pic>
      <p:pic>
        <p:nvPicPr>
          <p:cNvPr id="6" name="Picture 5">
            <a:extLst>
              <a:ext uri="{FF2B5EF4-FFF2-40B4-BE49-F238E27FC236}">
                <a16:creationId xmlns:a16="http://schemas.microsoft.com/office/drawing/2014/main" id="{915BB6F3-A261-CAA0-B499-A2A12F1AFE2C}"/>
              </a:ext>
            </a:extLst>
          </p:cNvPr>
          <p:cNvPicPr>
            <a:picLocks noChangeAspect="1"/>
          </p:cNvPicPr>
          <p:nvPr/>
        </p:nvPicPr>
        <p:blipFill>
          <a:blip r:embed="rId6"/>
          <a:stretch>
            <a:fillRect/>
          </a:stretch>
        </p:blipFill>
        <p:spPr>
          <a:xfrm>
            <a:off x="497803" y="233541"/>
            <a:ext cx="3708080" cy="1854040"/>
          </a:xfrm>
          <a:prstGeom prst="rect">
            <a:avLst/>
          </a:prstGeom>
        </p:spPr>
      </p:pic>
      <p:sp>
        <p:nvSpPr>
          <p:cNvPr id="7" name="TextBox 6">
            <a:extLst>
              <a:ext uri="{FF2B5EF4-FFF2-40B4-BE49-F238E27FC236}">
                <a16:creationId xmlns:a16="http://schemas.microsoft.com/office/drawing/2014/main" id="{0C121FAA-FA6E-EEC3-481F-3E99DBD6DCEB}"/>
              </a:ext>
            </a:extLst>
          </p:cNvPr>
          <p:cNvSpPr txBox="1"/>
          <p:nvPr/>
        </p:nvSpPr>
        <p:spPr>
          <a:xfrm>
            <a:off x="5268703" y="4049650"/>
            <a:ext cx="6353095" cy="2741776"/>
          </a:xfrm>
          <a:prstGeom prst="rect">
            <a:avLst/>
          </a:prstGeom>
          <a:noFill/>
        </p:spPr>
        <p:txBody>
          <a:bodyPr wrap="square" lIns="91440" tIns="45720" rIns="91440" bIns="45720" anchor="t">
            <a:spAutoFit/>
          </a:bodyPr>
          <a:lstStyle/>
          <a:p>
            <a:pPr algn="just" fontAlgn="base">
              <a:lnSpc>
                <a:spcPct val="150000"/>
              </a:lnSpc>
            </a:pPr>
            <a:r>
              <a:rPr lang="en-US" sz="2100" b="1" dirty="0">
                <a:solidFill>
                  <a:srgbClr val="000000"/>
                </a:solidFill>
                <a:latin typeface="Roboto" panose="02000000000000000000" pitchFamily="2" charset="0"/>
                <a:ea typeface="Roboto" panose="02000000000000000000" pitchFamily="2" charset="0"/>
                <a:cs typeface="Roboto" panose="02000000000000000000" pitchFamily="2" charset="0"/>
              </a:rPr>
              <a:t>MPowerBoards: </a:t>
            </a:r>
          </a:p>
          <a:p>
            <a:pPr algn="just" fontAlgn="base">
              <a:lnSpc>
                <a:spcPct val="150000"/>
              </a:lnSpc>
            </a:pPr>
            <a:r>
              <a:rPr lang="en-US" sz="1600" b="1" dirty="0">
                <a:solidFill>
                  <a:srgbClr val="000000"/>
                </a:solidFill>
                <a:latin typeface="Roboto" panose="02000000000000000000" pitchFamily="2" charset="0"/>
                <a:ea typeface="Roboto" panose="02000000000000000000" pitchFamily="2" charset="0"/>
                <a:cs typeface="Roboto" panose="02000000000000000000" pitchFamily="2" charset="0"/>
              </a:rPr>
              <a:t>Interactive Physical Visualization</a:t>
            </a:r>
          </a:p>
          <a:p>
            <a:pPr algn="just" fontAlgn="base">
              <a:lnSpc>
                <a:spcPct val="150000"/>
              </a:lnSpc>
            </a:pPr>
            <a:endParaRPr lang="en-US" sz="400" b="1" dirty="0">
              <a:solidFill>
                <a:srgbClr val="000000"/>
              </a:solidFill>
              <a:latin typeface="Roboto" panose="02000000000000000000" pitchFamily="2" charset="0"/>
              <a:ea typeface="Roboto" panose="02000000000000000000" pitchFamily="2" charset="0"/>
              <a:cs typeface="Roboto" panose="02000000000000000000" pitchFamily="2" charset="0"/>
            </a:endParaRPr>
          </a:p>
          <a:p>
            <a:pPr algn="just" fontAlgn="base">
              <a:lnSpc>
                <a:spcPct val="150000"/>
              </a:lnSpc>
            </a:pPr>
            <a:r>
              <a:rPr lang="en-US" sz="1400" b="1" dirty="0">
                <a:solidFill>
                  <a:srgbClr val="000000"/>
                </a:solidFill>
                <a:latin typeface="Roboto" panose="02000000000000000000" pitchFamily="2" charset="0"/>
                <a:ea typeface="Roboto" panose="02000000000000000000" pitchFamily="2" charset="0"/>
                <a:cs typeface="Roboto" panose="02000000000000000000" pitchFamily="2" charset="0"/>
              </a:rPr>
              <a:t>• Real-time simulations</a:t>
            </a:r>
          </a:p>
          <a:p>
            <a:pPr algn="just" fontAlgn="base">
              <a:lnSpc>
                <a:spcPct val="150000"/>
              </a:lnSpc>
            </a:pPr>
            <a:r>
              <a:rPr lang="en-US" sz="1400" b="1" dirty="0">
                <a:solidFill>
                  <a:srgbClr val="000000"/>
                </a:solidFill>
                <a:latin typeface="Roboto" panose="02000000000000000000" pitchFamily="2" charset="0"/>
                <a:ea typeface="Roboto" panose="02000000000000000000" pitchFamily="2" charset="0"/>
                <a:cs typeface="Roboto" panose="02000000000000000000" pitchFamily="2" charset="0"/>
              </a:rPr>
              <a:t>• Embedded electronics </a:t>
            </a:r>
          </a:p>
          <a:p>
            <a:pPr algn="just" fontAlgn="base">
              <a:lnSpc>
                <a:spcPct val="150000"/>
              </a:lnSpc>
            </a:pPr>
            <a:r>
              <a:rPr lang="en-US" sz="1400" b="1" dirty="0">
                <a:solidFill>
                  <a:srgbClr val="000000"/>
                </a:solidFill>
                <a:latin typeface="Roboto" panose="02000000000000000000" pitchFamily="2" charset="0"/>
                <a:ea typeface="Roboto" panose="02000000000000000000" pitchFamily="2" charset="0"/>
                <a:cs typeface="Roboto" panose="02000000000000000000" pitchFamily="2" charset="0"/>
              </a:rPr>
              <a:t>• Modeling complex power systems concepts</a:t>
            </a:r>
          </a:p>
          <a:p>
            <a:pPr algn="just" fontAlgn="base">
              <a:lnSpc>
                <a:spcPct val="150000"/>
              </a:lnSpc>
            </a:pPr>
            <a:endParaRPr lang="en-US" sz="1400" b="1" dirty="0">
              <a:solidFill>
                <a:srgbClr val="000000"/>
              </a:solidFill>
              <a:latin typeface="Roboto" panose="02000000000000000000" pitchFamily="2" charset="0"/>
              <a:ea typeface="Roboto" panose="02000000000000000000" pitchFamily="2" charset="0"/>
              <a:cs typeface="Roboto" panose="02000000000000000000" pitchFamily="2" charset="0"/>
            </a:endParaRPr>
          </a:p>
          <a:p>
            <a:pPr algn="just" fontAlgn="base">
              <a:lnSpc>
                <a:spcPct val="150000"/>
              </a:lnSpc>
            </a:pPr>
            <a:endParaRPr lang="en-US" sz="2000" b="1" dirty="0">
              <a:solidFill>
                <a:srgbClr val="000000"/>
              </a:solidFill>
              <a:latin typeface="Roboto" panose="02000000000000000000" pitchFamily="2" charset="0"/>
              <a:ea typeface="Roboto" panose="02000000000000000000" pitchFamily="2" charset="0"/>
              <a:cs typeface="Roboto" panose="02000000000000000000" pitchFamily="2" charset="0"/>
            </a:endParaRPr>
          </a:p>
        </p:txBody>
      </p:sp>
      <p:pic>
        <p:nvPicPr>
          <p:cNvPr id="2" name="Picture 1">
            <a:extLst>
              <a:ext uri="{FF2B5EF4-FFF2-40B4-BE49-F238E27FC236}">
                <a16:creationId xmlns:a16="http://schemas.microsoft.com/office/drawing/2014/main" id="{89010DDF-4EA7-67A8-6547-616096971C58}"/>
              </a:ext>
            </a:extLst>
          </p:cNvPr>
          <p:cNvPicPr>
            <a:picLocks noChangeAspect="1"/>
          </p:cNvPicPr>
          <p:nvPr/>
        </p:nvPicPr>
        <p:blipFill>
          <a:blip r:embed="rId7"/>
          <a:stretch>
            <a:fillRect/>
          </a:stretch>
        </p:blipFill>
        <p:spPr>
          <a:xfrm>
            <a:off x="9400032" y="5578812"/>
            <a:ext cx="2221766" cy="759259"/>
          </a:xfrm>
          <a:prstGeom prst="rect">
            <a:avLst/>
          </a:prstGeom>
        </p:spPr>
      </p:pic>
    </p:spTree>
    <p:extLst>
      <p:ext uri="{BB962C8B-B14F-4D97-AF65-F5344CB8AC3E}">
        <p14:creationId xmlns:p14="http://schemas.microsoft.com/office/powerpoint/2010/main" val="1074553667"/>
      </p:ext>
    </p:extLst>
  </p:cSld>
  <p:clrMapOvr>
    <a:masterClrMapping/>
  </p:clrMapOvr>
  <mc:AlternateContent xmlns:mc="http://schemas.openxmlformats.org/markup-compatibility/2006">
    <mc:Choice xmlns:p14="http://schemas.microsoft.com/office/powerpoint/2010/main" Requires="p14">
      <p:transition spd="slow" p14:dur="2000" advTm="10839"/>
    </mc:Choice>
    <mc:Fallback>
      <p:transition spd="slow" advTm="10839"/>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45491D5-FE4F-1D6E-AAF0-3B90E1A73733}"/>
              </a:ext>
            </a:extLst>
          </p:cNvPr>
          <p:cNvPicPr>
            <a:picLocks noChangeAspect="1"/>
          </p:cNvPicPr>
          <p:nvPr/>
        </p:nvPicPr>
        <p:blipFill>
          <a:blip r:embed="rId3">
            <a:extLst>
              <a:ext uri="{28A0092B-C50C-407E-A947-70E740481C1C}">
                <a14:useLocalDpi xmlns:a14="http://schemas.microsoft.com/office/drawing/2010/main" val="0"/>
              </a:ext>
            </a:extLst>
          </a:blip>
          <a:srcRect t="-8505" r="79881"/>
          <a:stretch>
            <a:fillRect/>
          </a:stretch>
        </p:blipFill>
        <p:spPr>
          <a:xfrm>
            <a:off x="4068846" y="998840"/>
            <a:ext cx="1922073" cy="881148"/>
          </a:xfrm>
          <a:prstGeom prst="rect">
            <a:avLst/>
          </a:prstGeom>
        </p:spPr>
      </p:pic>
      <p:pic>
        <p:nvPicPr>
          <p:cNvPr id="12" name="Picture 11">
            <a:extLst>
              <a:ext uri="{FF2B5EF4-FFF2-40B4-BE49-F238E27FC236}">
                <a16:creationId xmlns:a16="http://schemas.microsoft.com/office/drawing/2014/main" id="{3F8DE575-8D66-7C21-3A02-9EE3DED58252}"/>
              </a:ext>
            </a:extLst>
          </p:cNvPr>
          <p:cNvPicPr>
            <a:picLocks noChangeAspect="1"/>
          </p:cNvPicPr>
          <p:nvPr/>
        </p:nvPicPr>
        <p:blipFill>
          <a:blip r:embed="rId3">
            <a:extLst>
              <a:ext uri="{28A0092B-C50C-407E-A947-70E740481C1C}">
                <a14:useLocalDpi xmlns:a14="http://schemas.microsoft.com/office/drawing/2010/main" val="0"/>
              </a:ext>
            </a:extLst>
          </a:blip>
          <a:srcRect l="41765" t="-4252" r="45522" b="-4252"/>
          <a:stretch>
            <a:fillRect/>
          </a:stretch>
        </p:blipFill>
        <p:spPr>
          <a:xfrm>
            <a:off x="6096000" y="1048303"/>
            <a:ext cx="1214581" cy="881148"/>
          </a:xfrm>
          <a:prstGeom prst="rect">
            <a:avLst/>
          </a:prstGeom>
        </p:spPr>
      </p:pic>
      <p:pic>
        <p:nvPicPr>
          <p:cNvPr id="15" name="Picture 14">
            <a:extLst>
              <a:ext uri="{FF2B5EF4-FFF2-40B4-BE49-F238E27FC236}">
                <a16:creationId xmlns:a16="http://schemas.microsoft.com/office/drawing/2014/main" id="{919382B3-8A35-8300-C03C-2D6337EA1207}"/>
              </a:ext>
            </a:extLst>
          </p:cNvPr>
          <p:cNvPicPr>
            <a:picLocks noChangeAspect="1"/>
          </p:cNvPicPr>
          <p:nvPr/>
        </p:nvPicPr>
        <p:blipFill>
          <a:blip r:embed="rId4"/>
          <a:stretch>
            <a:fillRect/>
          </a:stretch>
        </p:blipFill>
        <p:spPr>
          <a:xfrm>
            <a:off x="4287674" y="1985981"/>
            <a:ext cx="2827316" cy="966198"/>
          </a:xfrm>
          <a:prstGeom prst="rect">
            <a:avLst/>
          </a:prstGeom>
        </p:spPr>
      </p:pic>
      <p:sp>
        <p:nvSpPr>
          <p:cNvPr id="18" name="TextBox 17">
            <a:extLst>
              <a:ext uri="{FF2B5EF4-FFF2-40B4-BE49-F238E27FC236}">
                <a16:creationId xmlns:a16="http://schemas.microsoft.com/office/drawing/2014/main" id="{D7A6D438-7AF5-473A-EB54-6F8F9D54B9CE}"/>
              </a:ext>
            </a:extLst>
          </p:cNvPr>
          <p:cNvSpPr txBox="1"/>
          <p:nvPr/>
        </p:nvSpPr>
        <p:spPr>
          <a:xfrm>
            <a:off x="834013" y="3689214"/>
            <a:ext cx="5049701" cy="1849224"/>
          </a:xfrm>
          <a:prstGeom prst="rect">
            <a:avLst/>
          </a:prstGeom>
          <a:noFill/>
        </p:spPr>
        <p:txBody>
          <a:bodyPr wrap="square">
            <a:spAutoFit/>
          </a:bodyPr>
          <a:lstStyle/>
          <a:p>
            <a:pPr algn="just" fontAlgn="base">
              <a:lnSpc>
                <a:spcPct val="200000"/>
              </a:lnSpc>
            </a:pPr>
            <a:r>
              <a:rPr lang="en-US" sz="2000" b="1" dirty="0">
                <a:solidFill>
                  <a:srgbClr val="FF0000"/>
                </a:solidFill>
                <a:latin typeface="Roboto"/>
                <a:ea typeface="Roboto"/>
                <a:cs typeface="Roboto"/>
              </a:rPr>
              <a:t>15+</a:t>
            </a:r>
            <a:r>
              <a:rPr lang="en-US" sz="2000" b="1" dirty="0">
                <a:solidFill>
                  <a:srgbClr val="000000"/>
                </a:solidFill>
                <a:latin typeface="Roboto"/>
                <a:ea typeface="Roboto"/>
                <a:cs typeface="Roboto"/>
              </a:rPr>
              <a:t> Undergraduate/ Highschool students</a:t>
            </a:r>
          </a:p>
          <a:p>
            <a:pPr algn="just" fontAlgn="base">
              <a:lnSpc>
                <a:spcPct val="200000"/>
              </a:lnSpc>
            </a:pPr>
            <a:r>
              <a:rPr lang="en-US" sz="2000" b="1" dirty="0">
                <a:solidFill>
                  <a:srgbClr val="FF0000"/>
                </a:solidFill>
                <a:latin typeface="Roboto"/>
                <a:ea typeface="Roboto"/>
                <a:cs typeface="Roboto"/>
              </a:rPr>
              <a:t>10+ </a:t>
            </a:r>
            <a:r>
              <a:rPr lang="en-US" sz="2000" b="1" dirty="0">
                <a:solidFill>
                  <a:srgbClr val="000000"/>
                </a:solidFill>
                <a:latin typeface="Roboto"/>
                <a:ea typeface="Roboto"/>
                <a:cs typeface="Roboto"/>
              </a:rPr>
              <a:t>K-12 Teachers and Students </a:t>
            </a:r>
          </a:p>
          <a:p>
            <a:pPr algn="just" fontAlgn="base">
              <a:lnSpc>
                <a:spcPct val="200000"/>
              </a:lnSpc>
            </a:pPr>
            <a:r>
              <a:rPr lang="en-US" sz="2000" b="1" dirty="0">
                <a:solidFill>
                  <a:srgbClr val="FF0000"/>
                </a:solidFill>
                <a:latin typeface="Roboto"/>
                <a:ea typeface="Roboto"/>
                <a:cs typeface="Roboto"/>
              </a:rPr>
              <a:t>8+</a:t>
            </a:r>
            <a:r>
              <a:rPr lang="en-US" sz="2000" b="1" dirty="0">
                <a:solidFill>
                  <a:srgbClr val="000000"/>
                </a:solidFill>
                <a:latin typeface="Roboto"/>
                <a:ea typeface="Roboto"/>
                <a:cs typeface="Roboto"/>
              </a:rPr>
              <a:t> Professors and PhD researchers </a:t>
            </a:r>
          </a:p>
        </p:txBody>
      </p:sp>
      <p:cxnSp>
        <p:nvCxnSpPr>
          <p:cNvPr id="20" name="Straight Connector 19">
            <a:extLst>
              <a:ext uri="{FF2B5EF4-FFF2-40B4-BE49-F238E27FC236}">
                <a16:creationId xmlns:a16="http://schemas.microsoft.com/office/drawing/2014/main" id="{73C53482-06E6-7591-9672-6669F449BB22}"/>
              </a:ext>
            </a:extLst>
          </p:cNvPr>
          <p:cNvCxnSpPr>
            <a:cxnSpLocks/>
          </p:cNvCxnSpPr>
          <p:nvPr/>
        </p:nvCxnSpPr>
        <p:spPr>
          <a:xfrm>
            <a:off x="5883728" y="3535325"/>
            <a:ext cx="0" cy="2432956"/>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B9DB7329-9EFB-2123-3E82-1959A7A2FD8D}"/>
              </a:ext>
            </a:extLst>
          </p:cNvPr>
          <p:cNvSpPr txBox="1"/>
          <p:nvPr/>
        </p:nvSpPr>
        <p:spPr>
          <a:xfrm>
            <a:off x="6096002" y="3344920"/>
            <a:ext cx="6095998" cy="2464777"/>
          </a:xfrm>
          <a:prstGeom prst="rect">
            <a:avLst/>
          </a:prstGeom>
          <a:noFill/>
        </p:spPr>
        <p:txBody>
          <a:bodyPr wrap="square">
            <a:spAutoFit/>
          </a:bodyPr>
          <a:lstStyle/>
          <a:p>
            <a:pPr algn="just" fontAlgn="base">
              <a:lnSpc>
                <a:spcPct val="200000"/>
              </a:lnSpc>
            </a:pPr>
            <a:r>
              <a:rPr lang="en-US" sz="2000" b="1" dirty="0">
                <a:latin typeface="Roboto"/>
                <a:ea typeface="Roboto"/>
                <a:cs typeface="Roboto"/>
              </a:rPr>
              <a:t>• Working prototypes </a:t>
            </a:r>
          </a:p>
          <a:p>
            <a:pPr algn="just" fontAlgn="base">
              <a:lnSpc>
                <a:spcPct val="200000"/>
              </a:lnSpc>
            </a:pPr>
            <a:r>
              <a:rPr lang="en-US" sz="2000" b="1" dirty="0">
                <a:latin typeface="Roboto"/>
                <a:ea typeface="Roboto"/>
                <a:cs typeface="Roboto"/>
              </a:rPr>
              <a:t>• Classroom demos</a:t>
            </a:r>
          </a:p>
          <a:p>
            <a:pPr algn="just" fontAlgn="base">
              <a:lnSpc>
                <a:spcPct val="200000"/>
              </a:lnSpc>
            </a:pPr>
            <a:r>
              <a:rPr lang="en-US" sz="2000" b="1" dirty="0">
                <a:latin typeface="Roboto"/>
                <a:ea typeface="Roboto"/>
                <a:cs typeface="Roboto"/>
              </a:rPr>
              <a:t>• Georgia Tech faculty </a:t>
            </a:r>
          </a:p>
          <a:p>
            <a:pPr algn="just" fontAlgn="base">
              <a:lnSpc>
                <a:spcPct val="200000"/>
              </a:lnSpc>
            </a:pPr>
            <a:r>
              <a:rPr lang="en-US" sz="2000" b="1" dirty="0">
                <a:latin typeface="Roboto"/>
                <a:ea typeface="Roboto"/>
                <a:cs typeface="Roboto"/>
              </a:rPr>
              <a:t>• AI for Power Systems Institute</a:t>
            </a:r>
          </a:p>
        </p:txBody>
      </p:sp>
      <p:pic>
        <p:nvPicPr>
          <p:cNvPr id="25" name="Picture 24">
            <a:extLst>
              <a:ext uri="{FF2B5EF4-FFF2-40B4-BE49-F238E27FC236}">
                <a16:creationId xmlns:a16="http://schemas.microsoft.com/office/drawing/2014/main" id="{C54AAC52-807D-18CE-65A7-2CCCC9E423CC}"/>
              </a:ext>
            </a:extLst>
          </p:cNvPr>
          <p:cNvPicPr>
            <a:picLocks noChangeAspect="1"/>
          </p:cNvPicPr>
          <p:nvPr/>
        </p:nvPicPr>
        <p:blipFill>
          <a:blip r:embed="rId4"/>
          <a:stretch>
            <a:fillRect/>
          </a:stretch>
        </p:blipFill>
        <p:spPr>
          <a:xfrm>
            <a:off x="9673165" y="5822808"/>
            <a:ext cx="2221766" cy="75925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5743"/>
    </mc:Choice>
    <mc:Fallback>
      <p:transition spd="slow" advTm="15743"/>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755B2-BE69-88FB-9EB4-A653C625FF9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351BB6D-410C-C4CD-DB5E-A6A551016EC1}"/>
              </a:ext>
            </a:extLst>
          </p:cNvPr>
          <p:cNvGrpSpPr/>
          <p:nvPr/>
        </p:nvGrpSpPr>
        <p:grpSpPr>
          <a:xfrm>
            <a:off x="432697" y="654774"/>
            <a:ext cx="2743200" cy="2743200"/>
            <a:chOff x="0" y="0"/>
            <a:chExt cx="6350000" cy="6350000"/>
          </a:xfrm>
        </p:grpSpPr>
        <p:sp>
          <p:nvSpPr>
            <p:cNvPr id="3" name="Freeform 3">
              <a:extLst>
                <a:ext uri="{FF2B5EF4-FFF2-40B4-BE49-F238E27FC236}">
                  <a16:creationId xmlns:a16="http://schemas.microsoft.com/office/drawing/2014/main" id="{C323A5CF-33B9-A8F0-B87B-F96A48BB8B1F}"/>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3"/>
              <a:stretch>
                <a:fillRect t="-7747" b="-7747"/>
              </a:stretch>
            </a:blipFill>
          </p:spPr>
          <p:txBody>
            <a:bodyPr/>
            <a:lstStyle/>
            <a:p>
              <a:endParaRPr lang="en-US"/>
            </a:p>
          </p:txBody>
        </p:sp>
      </p:grpSp>
      <p:grpSp>
        <p:nvGrpSpPr>
          <p:cNvPr id="4" name="Group 4">
            <a:extLst>
              <a:ext uri="{FF2B5EF4-FFF2-40B4-BE49-F238E27FC236}">
                <a16:creationId xmlns:a16="http://schemas.microsoft.com/office/drawing/2014/main" id="{A2D3009D-ED81-678F-1412-425B44678265}"/>
              </a:ext>
            </a:extLst>
          </p:cNvPr>
          <p:cNvGrpSpPr/>
          <p:nvPr/>
        </p:nvGrpSpPr>
        <p:grpSpPr>
          <a:xfrm>
            <a:off x="3324702" y="650385"/>
            <a:ext cx="2743200" cy="2743200"/>
            <a:chOff x="0" y="0"/>
            <a:chExt cx="6350000" cy="6350000"/>
          </a:xfrm>
        </p:grpSpPr>
        <p:sp>
          <p:nvSpPr>
            <p:cNvPr id="5" name="Freeform 5">
              <a:extLst>
                <a:ext uri="{FF2B5EF4-FFF2-40B4-BE49-F238E27FC236}">
                  <a16:creationId xmlns:a16="http://schemas.microsoft.com/office/drawing/2014/main" id="{69E0821D-9205-9074-A821-DE82885DD63F}"/>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4"/>
              <a:stretch>
                <a:fillRect l="-4922" t="-14766" r="-9844"/>
              </a:stretch>
            </a:blipFill>
          </p:spPr>
          <p:txBody>
            <a:bodyPr/>
            <a:lstStyle/>
            <a:p>
              <a:endParaRPr lang="en-US"/>
            </a:p>
          </p:txBody>
        </p:sp>
      </p:grpSp>
      <p:grpSp>
        <p:nvGrpSpPr>
          <p:cNvPr id="6" name="Group 6">
            <a:extLst>
              <a:ext uri="{FF2B5EF4-FFF2-40B4-BE49-F238E27FC236}">
                <a16:creationId xmlns:a16="http://schemas.microsoft.com/office/drawing/2014/main" id="{1E76DDA0-560D-A751-28D0-0CDD3BBB22E3}"/>
              </a:ext>
            </a:extLst>
          </p:cNvPr>
          <p:cNvGrpSpPr/>
          <p:nvPr/>
        </p:nvGrpSpPr>
        <p:grpSpPr>
          <a:xfrm>
            <a:off x="6152018" y="685800"/>
            <a:ext cx="2743200" cy="2743200"/>
            <a:chOff x="0" y="0"/>
            <a:chExt cx="6350000" cy="6350000"/>
          </a:xfrm>
        </p:grpSpPr>
        <p:sp>
          <p:nvSpPr>
            <p:cNvPr id="7" name="Freeform 7">
              <a:extLst>
                <a:ext uri="{FF2B5EF4-FFF2-40B4-BE49-F238E27FC236}">
                  <a16:creationId xmlns:a16="http://schemas.microsoft.com/office/drawing/2014/main" id="{63687C98-C939-90FE-F192-F8760EE02C2D}"/>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5"/>
              <a:stretch>
                <a:fillRect/>
              </a:stretch>
            </a:blipFill>
          </p:spPr>
          <p:txBody>
            <a:bodyPr/>
            <a:lstStyle/>
            <a:p>
              <a:endParaRPr lang="en-US"/>
            </a:p>
          </p:txBody>
        </p:sp>
      </p:grpSp>
      <p:grpSp>
        <p:nvGrpSpPr>
          <p:cNvPr id="8" name="Group 8">
            <a:extLst>
              <a:ext uri="{FF2B5EF4-FFF2-40B4-BE49-F238E27FC236}">
                <a16:creationId xmlns:a16="http://schemas.microsoft.com/office/drawing/2014/main" id="{A72BC626-3E23-9F52-E6AD-A08B1958B106}"/>
              </a:ext>
            </a:extLst>
          </p:cNvPr>
          <p:cNvGrpSpPr/>
          <p:nvPr/>
        </p:nvGrpSpPr>
        <p:grpSpPr>
          <a:xfrm>
            <a:off x="8965394" y="681411"/>
            <a:ext cx="2743200" cy="2743200"/>
            <a:chOff x="0" y="0"/>
            <a:chExt cx="6350000" cy="6350000"/>
          </a:xfrm>
        </p:grpSpPr>
        <p:sp>
          <p:nvSpPr>
            <p:cNvPr id="9" name="Freeform 9">
              <a:extLst>
                <a:ext uri="{FF2B5EF4-FFF2-40B4-BE49-F238E27FC236}">
                  <a16:creationId xmlns:a16="http://schemas.microsoft.com/office/drawing/2014/main" id="{68047D1C-1E6C-7252-E7CA-C96EF092A47B}"/>
                </a:ext>
              </a:extLst>
            </p:cNvPr>
            <p:cNvSpPr/>
            <p:nvPr/>
          </p:nvSpPr>
          <p:spPr>
            <a:xfrm>
              <a:off x="541020" y="537210"/>
              <a:ext cx="5255260" cy="5255260"/>
            </a:xfrm>
            <a:custGeom>
              <a:avLst/>
              <a:gdLst/>
              <a:ahLst/>
              <a:cxnLst/>
              <a:rect l="l" t="t" r="r" b="b"/>
              <a:pathLst>
                <a:path w="5255260" h="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6"/>
              <a:stretch>
                <a:fillRect l="-24834" t="-85721" r="-63204" b="-64997"/>
              </a:stretch>
            </a:blipFill>
          </p:spPr>
          <p:txBody>
            <a:bodyPr/>
            <a:lstStyle/>
            <a:p>
              <a:endParaRPr lang="en-US"/>
            </a:p>
          </p:txBody>
        </p:sp>
      </p:grpSp>
      <p:pic>
        <p:nvPicPr>
          <p:cNvPr id="10" name="Picture 9">
            <a:extLst>
              <a:ext uri="{FF2B5EF4-FFF2-40B4-BE49-F238E27FC236}">
                <a16:creationId xmlns:a16="http://schemas.microsoft.com/office/drawing/2014/main" id="{0767ABD6-950D-E525-DE4D-D3F93AF7DA44}"/>
              </a:ext>
            </a:extLst>
          </p:cNvPr>
          <p:cNvPicPr>
            <a:picLocks noChangeAspect="1"/>
          </p:cNvPicPr>
          <p:nvPr/>
        </p:nvPicPr>
        <p:blipFill>
          <a:blip r:embed="rId7">
            <a:extLst>
              <a:ext uri="{28A0092B-C50C-407E-A947-70E740481C1C}">
                <a14:useLocalDpi xmlns:a14="http://schemas.microsoft.com/office/drawing/2010/main" val="0"/>
              </a:ext>
            </a:extLst>
          </a:blip>
          <a:srcRect t="-8505" r="79881"/>
          <a:stretch>
            <a:fillRect/>
          </a:stretch>
        </p:blipFill>
        <p:spPr>
          <a:xfrm>
            <a:off x="6385739" y="4233492"/>
            <a:ext cx="1922073" cy="881148"/>
          </a:xfrm>
          <a:prstGeom prst="rect">
            <a:avLst/>
          </a:prstGeom>
        </p:spPr>
      </p:pic>
      <p:pic>
        <p:nvPicPr>
          <p:cNvPr id="12" name="Picture 11">
            <a:extLst>
              <a:ext uri="{FF2B5EF4-FFF2-40B4-BE49-F238E27FC236}">
                <a16:creationId xmlns:a16="http://schemas.microsoft.com/office/drawing/2014/main" id="{DEF6A57F-C4AD-73D4-3025-E8E9F23C7EAE}"/>
              </a:ext>
            </a:extLst>
          </p:cNvPr>
          <p:cNvPicPr>
            <a:picLocks noChangeAspect="1"/>
          </p:cNvPicPr>
          <p:nvPr/>
        </p:nvPicPr>
        <p:blipFill>
          <a:blip r:embed="rId7">
            <a:extLst>
              <a:ext uri="{28A0092B-C50C-407E-A947-70E740481C1C}">
                <a14:useLocalDpi xmlns:a14="http://schemas.microsoft.com/office/drawing/2010/main" val="0"/>
              </a:ext>
            </a:extLst>
          </a:blip>
          <a:srcRect l="41587" t="-4252" r="45522" b="-4252"/>
          <a:stretch>
            <a:fillRect/>
          </a:stretch>
        </p:blipFill>
        <p:spPr>
          <a:xfrm>
            <a:off x="8431480" y="4233492"/>
            <a:ext cx="1231620" cy="881148"/>
          </a:xfrm>
          <a:prstGeom prst="rect">
            <a:avLst/>
          </a:prstGeom>
        </p:spPr>
      </p:pic>
      <p:pic>
        <p:nvPicPr>
          <p:cNvPr id="15" name="Picture 14">
            <a:extLst>
              <a:ext uri="{FF2B5EF4-FFF2-40B4-BE49-F238E27FC236}">
                <a16:creationId xmlns:a16="http://schemas.microsoft.com/office/drawing/2014/main" id="{9DCD0380-44DA-708D-759C-B8CFCF9A3BBA}"/>
              </a:ext>
            </a:extLst>
          </p:cNvPr>
          <p:cNvPicPr>
            <a:picLocks noChangeAspect="1"/>
          </p:cNvPicPr>
          <p:nvPr/>
        </p:nvPicPr>
        <p:blipFill>
          <a:blip r:embed="rId8"/>
          <a:stretch>
            <a:fillRect/>
          </a:stretch>
        </p:blipFill>
        <p:spPr>
          <a:xfrm>
            <a:off x="6497480" y="5267811"/>
            <a:ext cx="2827316" cy="966198"/>
          </a:xfrm>
          <a:prstGeom prst="rect">
            <a:avLst/>
          </a:prstGeom>
        </p:spPr>
      </p:pic>
      <p:cxnSp>
        <p:nvCxnSpPr>
          <p:cNvPr id="11" name="Straight Connector 10">
            <a:extLst>
              <a:ext uri="{FF2B5EF4-FFF2-40B4-BE49-F238E27FC236}">
                <a16:creationId xmlns:a16="http://schemas.microsoft.com/office/drawing/2014/main" id="{420DD8FD-EEE5-5FF6-0318-758C6608372F}"/>
              </a:ext>
            </a:extLst>
          </p:cNvPr>
          <p:cNvCxnSpPr>
            <a:cxnSpLocks/>
          </p:cNvCxnSpPr>
          <p:nvPr/>
        </p:nvCxnSpPr>
        <p:spPr>
          <a:xfrm>
            <a:off x="6096000" y="4233492"/>
            <a:ext cx="0" cy="2124778"/>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E957246F-43A2-2F07-AEE5-6280DEF87660}"/>
              </a:ext>
            </a:extLst>
          </p:cNvPr>
          <p:cNvSpPr txBox="1"/>
          <p:nvPr/>
        </p:nvSpPr>
        <p:spPr>
          <a:xfrm>
            <a:off x="666418" y="4708446"/>
            <a:ext cx="6103088" cy="905376"/>
          </a:xfrm>
          <a:prstGeom prst="rect">
            <a:avLst/>
          </a:prstGeom>
          <a:noFill/>
        </p:spPr>
        <p:txBody>
          <a:bodyPr wrap="square">
            <a:spAutoFit/>
          </a:bodyPr>
          <a:lstStyle/>
          <a:p>
            <a:pPr algn="just" fontAlgn="base">
              <a:lnSpc>
                <a:spcPct val="150000"/>
              </a:lnSpc>
            </a:pPr>
            <a:r>
              <a:rPr lang="en-US" sz="2100" b="1" dirty="0">
                <a:solidFill>
                  <a:srgbClr val="B3A369"/>
                </a:solidFill>
                <a:latin typeface="Roboto" panose="02000000000000000000" pitchFamily="2" charset="0"/>
                <a:ea typeface="Roboto" panose="02000000000000000000" pitchFamily="2" charset="0"/>
                <a:cs typeface="Roboto" panose="02000000000000000000" pitchFamily="2" charset="0"/>
              </a:rPr>
              <a:t>M</a:t>
            </a:r>
            <a:r>
              <a:rPr lang="en-US" sz="2100" b="1" dirty="0">
                <a:solidFill>
                  <a:srgbClr val="000000"/>
                </a:solidFill>
                <a:latin typeface="Roboto" panose="02000000000000000000" pitchFamily="2" charset="0"/>
                <a:ea typeface="Roboto" panose="02000000000000000000" pitchFamily="2" charset="0"/>
                <a:cs typeface="Roboto" panose="02000000000000000000" pitchFamily="2" charset="0"/>
              </a:rPr>
              <a:t>PowerBoards</a:t>
            </a:r>
          </a:p>
          <a:p>
            <a:pPr algn="just" fontAlgn="base">
              <a:lnSpc>
                <a:spcPct val="150000"/>
              </a:lnSpc>
            </a:pPr>
            <a:r>
              <a:rPr lang="en-US" sz="1600" b="1" dirty="0">
                <a:solidFill>
                  <a:srgbClr val="000000"/>
                </a:solidFill>
                <a:latin typeface="Roboto" panose="02000000000000000000" pitchFamily="2" charset="0"/>
                <a:ea typeface="Roboto" panose="02000000000000000000" pitchFamily="2" charset="0"/>
                <a:cs typeface="Roboto" panose="02000000000000000000" pitchFamily="2" charset="0"/>
              </a:rPr>
              <a:t>Revolutionizing Power Grid Education and Research</a:t>
            </a:r>
          </a:p>
        </p:txBody>
      </p:sp>
      <p:sp>
        <p:nvSpPr>
          <p:cNvPr id="18" name="TextBox 17">
            <a:extLst>
              <a:ext uri="{FF2B5EF4-FFF2-40B4-BE49-F238E27FC236}">
                <a16:creationId xmlns:a16="http://schemas.microsoft.com/office/drawing/2014/main" id="{169DB081-5B14-4444-B448-4E9211802126}"/>
              </a:ext>
            </a:extLst>
          </p:cNvPr>
          <p:cNvSpPr txBox="1"/>
          <p:nvPr/>
        </p:nvSpPr>
        <p:spPr>
          <a:xfrm>
            <a:off x="917781" y="3371125"/>
            <a:ext cx="2018909" cy="389850"/>
          </a:xfrm>
          <a:prstGeom prst="rect">
            <a:avLst/>
          </a:prstGeom>
          <a:noFill/>
        </p:spPr>
        <p:txBody>
          <a:bodyPr wrap="square">
            <a:spAutoFit/>
          </a:bodyPr>
          <a:lstStyle/>
          <a:p>
            <a:pPr algn="just" fontAlgn="base">
              <a:lnSpc>
                <a:spcPct val="150000"/>
              </a:lnSpc>
            </a:pPr>
            <a:r>
              <a:rPr lang="en-US" sz="1450" b="1" dirty="0">
                <a:solidFill>
                  <a:srgbClr val="000000"/>
                </a:solidFill>
                <a:latin typeface="Roboto" panose="02000000000000000000" pitchFamily="2" charset="0"/>
                <a:ea typeface="Roboto" panose="02000000000000000000" pitchFamily="2" charset="0"/>
                <a:cs typeface="Roboto" panose="02000000000000000000" pitchFamily="2" charset="0"/>
              </a:rPr>
              <a:t>Michael A. Boateng</a:t>
            </a:r>
          </a:p>
        </p:txBody>
      </p:sp>
      <p:sp>
        <p:nvSpPr>
          <p:cNvPr id="19" name="TextBox 18">
            <a:extLst>
              <a:ext uri="{FF2B5EF4-FFF2-40B4-BE49-F238E27FC236}">
                <a16:creationId xmlns:a16="http://schemas.microsoft.com/office/drawing/2014/main" id="{B931C67E-5F7B-96C3-E790-70524489E322}"/>
              </a:ext>
            </a:extLst>
          </p:cNvPr>
          <p:cNvSpPr txBox="1"/>
          <p:nvPr/>
        </p:nvSpPr>
        <p:spPr>
          <a:xfrm>
            <a:off x="4067944" y="3357662"/>
            <a:ext cx="2018909" cy="389850"/>
          </a:xfrm>
          <a:prstGeom prst="rect">
            <a:avLst/>
          </a:prstGeom>
          <a:noFill/>
        </p:spPr>
        <p:txBody>
          <a:bodyPr wrap="square">
            <a:spAutoFit/>
          </a:bodyPr>
          <a:lstStyle/>
          <a:p>
            <a:pPr algn="just" fontAlgn="base">
              <a:lnSpc>
                <a:spcPct val="150000"/>
              </a:lnSpc>
            </a:pPr>
            <a:r>
              <a:rPr lang="en-US" sz="1450" b="1" dirty="0">
                <a:solidFill>
                  <a:srgbClr val="000000"/>
                </a:solidFill>
                <a:latin typeface="Roboto" panose="02000000000000000000" pitchFamily="2" charset="0"/>
                <a:ea typeface="Roboto" panose="02000000000000000000" pitchFamily="2" charset="0"/>
                <a:cs typeface="Roboto" panose="02000000000000000000" pitchFamily="2" charset="0"/>
              </a:rPr>
              <a:t>Audrey H. Vu</a:t>
            </a:r>
          </a:p>
        </p:txBody>
      </p:sp>
      <p:sp>
        <p:nvSpPr>
          <p:cNvPr id="20" name="TextBox 19">
            <a:extLst>
              <a:ext uri="{FF2B5EF4-FFF2-40B4-BE49-F238E27FC236}">
                <a16:creationId xmlns:a16="http://schemas.microsoft.com/office/drawing/2014/main" id="{51CA0239-BE29-955C-2A22-5D76D706CCBA}"/>
              </a:ext>
            </a:extLst>
          </p:cNvPr>
          <p:cNvSpPr txBox="1"/>
          <p:nvPr/>
        </p:nvSpPr>
        <p:spPr>
          <a:xfrm>
            <a:off x="6633953" y="3365446"/>
            <a:ext cx="2018909" cy="389850"/>
          </a:xfrm>
          <a:prstGeom prst="rect">
            <a:avLst/>
          </a:prstGeom>
          <a:noFill/>
        </p:spPr>
        <p:txBody>
          <a:bodyPr wrap="square">
            <a:spAutoFit/>
          </a:bodyPr>
          <a:lstStyle/>
          <a:p>
            <a:pPr algn="just" fontAlgn="base">
              <a:lnSpc>
                <a:spcPct val="150000"/>
              </a:lnSpc>
            </a:pPr>
            <a:r>
              <a:rPr lang="en-US" sz="1450" b="1" dirty="0">
                <a:solidFill>
                  <a:srgbClr val="000000"/>
                </a:solidFill>
                <a:latin typeface="Roboto" panose="02000000000000000000" pitchFamily="2" charset="0"/>
                <a:ea typeface="Roboto" panose="02000000000000000000" pitchFamily="2" charset="0"/>
                <a:cs typeface="Roboto" panose="02000000000000000000" pitchFamily="2" charset="0"/>
              </a:rPr>
              <a:t>Ifeanyi D. Sorokwu</a:t>
            </a:r>
          </a:p>
        </p:txBody>
      </p:sp>
      <p:sp>
        <p:nvSpPr>
          <p:cNvPr id="21" name="TextBox 20">
            <a:extLst>
              <a:ext uri="{FF2B5EF4-FFF2-40B4-BE49-F238E27FC236}">
                <a16:creationId xmlns:a16="http://schemas.microsoft.com/office/drawing/2014/main" id="{1521E0FF-E206-7EE5-319F-058C28EC07E7}"/>
              </a:ext>
            </a:extLst>
          </p:cNvPr>
          <p:cNvSpPr txBox="1"/>
          <p:nvPr/>
        </p:nvSpPr>
        <p:spPr>
          <a:xfrm>
            <a:off x="9324796" y="3357662"/>
            <a:ext cx="2018909" cy="389850"/>
          </a:xfrm>
          <a:prstGeom prst="rect">
            <a:avLst/>
          </a:prstGeom>
          <a:noFill/>
        </p:spPr>
        <p:txBody>
          <a:bodyPr wrap="square">
            <a:spAutoFit/>
          </a:bodyPr>
          <a:lstStyle/>
          <a:p>
            <a:pPr algn="just" fontAlgn="base">
              <a:lnSpc>
                <a:spcPct val="150000"/>
              </a:lnSpc>
            </a:pPr>
            <a:r>
              <a:rPr lang="en-US" sz="1450" b="1" dirty="0">
                <a:solidFill>
                  <a:srgbClr val="000000"/>
                </a:solidFill>
                <a:latin typeface="Roboto" panose="02000000000000000000" pitchFamily="2" charset="0"/>
                <a:ea typeface="Roboto" panose="02000000000000000000" pitchFamily="2" charset="0"/>
                <a:cs typeface="Roboto" panose="02000000000000000000" pitchFamily="2" charset="0"/>
              </a:rPr>
              <a:t>Betelihem K. Ashebo </a:t>
            </a:r>
          </a:p>
        </p:txBody>
      </p:sp>
    </p:spTree>
    <p:extLst>
      <p:ext uri="{BB962C8B-B14F-4D97-AF65-F5344CB8AC3E}">
        <p14:creationId xmlns:p14="http://schemas.microsoft.com/office/powerpoint/2010/main" val="756665615"/>
      </p:ext>
    </p:extLst>
  </p:cSld>
  <p:clrMapOvr>
    <a:masterClrMapping/>
  </p:clrMapOvr>
  <mc:AlternateContent xmlns:mc="http://schemas.openxmlformats.org/markup-compatibility/2006">
    <mc:Choice xmlns:p14="http://schemas.microsoft.com/office/powerpoint/2010/main" Requires="p14">
      <p:transition spd="slow" p14:dur="2000" advTm="11303"/>
    </mc:Choice>
    <mc:Fallback>
      <p:transition spd="slow" advTm="11303"/>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890</TotalTime>
  <Words>257</Words>
  <Application>Microsoft Macintosh PowerPoint</Application>
  <PresentationFormat>Widescreen</PresentationFormat>
  <Paragraphs>36</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Aptos Display</vt:lpstr>
      <vt:lpstr>Arial</vt:lpstr>
      <vt:lpstr>Roboto</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Boateng, Michael A</dc:creator>
  <cp:lastModifiedBy>Boateng, Michael A</cp:lastModifiedBy>
  <cp:revision>13</cp:revision>
  <dcterms:created xsi:type="dcterms:W3CDTF">2026-08-05T04:12:04Z</dcterms:created>
  <dcterms:modified xsi:type="dcterms:W3CDTF">2026-08-18T20:54:50Z</dcterms:modified>
</cp:coreProperties>
</file>